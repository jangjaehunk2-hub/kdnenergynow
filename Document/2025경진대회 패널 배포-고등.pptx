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5199975" cy="50399950"/>
  <p:notesSz cx="6858000" cy="9144000"/>
  <p:defaultTextStyle>
    <a:defPPr>
      <a:defRPr lang="ko-KR"/>
    </a:defPPr>
    <a:lvl1pPr marL="0" algn="l" defTabSz="3628796" rtl="0" eaLnBrk="1" latinLnBrk="1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1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1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1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1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1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1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1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1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4" userDrawn="1">
          <p15:clr>
            <a:srgbClr val="A4A3A4"/>
          </p15:clr>
        </p15:guide>
        <p15:guide id="2" pos="7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C80"/>
    <a:srgbClr val="004896"/>
    <a:srgbClr val="007D34"/>
    <a:srgbClr val="2EAF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19" autoAdjust="0"/>
    <p:restoredTop sz="94660"/>
  </p:normalViewPr>
  <p:slideViewPr>
    <p:cSldViewPr snapToGrid="0">
      <p:cViewPr varScale="1">
        <p:scale>
          <a:sx n="11" d="100"/>
          <a:sy n="11" d="100"/>
        </p:scale>
        <p:origin x="3115" y="211"/>
      </p:cViewPr>
      <p:guideLst>
        <p:guide orient="horz" pos="15874"/>
        <p:guide pos="7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8248329"/>
            <a:ext cx="21419979" cy="17546649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26471644"/>
            <a:ext cx="18899981" cy="12168318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50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175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12565002"/>
            <a:ext cx="21734978" cy="20964976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33728315"/>
            <a:ext cx="21734978" cy="11024985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21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13416653"/>
            <a:ext cx="10709989" cy="3197830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13416653"/>
            <a:ext cx="10709989" cy="3197830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87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2683342"/>
            <a:ext cx="21734978" cy="97416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12354992"/>
            <a:ext cx="10660769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8409982"/>
            <a:ext cx="10660769" cy="2707831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12354992"/>
            <a:ext cx="10713272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8409982"/>
            <a:ext cx="10713272" cy="2707831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10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062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51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"/>
            <a:ext cx="25199975" cy="5039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1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7256671"/>
            <a:ext cx="12757487" cy="35816631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30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7256671"/>
            <a:ext cx="12757487" cy="35816631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346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217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2683331"/>
            <a:ext cx="5433745" cy="4271162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2683331"/>
            <a:ext cx="15986234" cy="4271162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141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2683342"/>
            <a:ext cx="21734978" cy="9741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13416653"/>
            <a:ext cx="21734978" cy="31978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1DC50-C5CA-44B4-A558-6C26647E590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46713298"/>
            <a:ext cx="8504992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55DF-96A1-4169-BF75-5FD797EEA4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12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2519995" rtl="0" eaLnBrk="1" latinLnBrk="1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1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399" y="7739953"/>
            <a:ext cx="2941547" cy="729596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399" y="6869685"/>
            <a:ext cx="2941547" cy="729596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399" y="5973272"/>
            <a:ext cx="2941547" cy="72959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399" y="5103300"/>
            <a:ext cx="2941547" cy="729596"/>
          </a:xfrm>
          <a:prstGeom prst="rect">
            <a:avLst/>
          </a:prstGeom>
        </p:spPr>
      </p:pic>
      <p:grpSp>
        <p:nvGrpSpPr>
          <p:cNvPr id="13" name="그룹 12"/>
          <p:cNvGrpSpPr/>
          <p:nvPr/>
        </p:nvGrpSpPr>
        <p:grpSpPr>
          <a:xfrm>
            <a:off x="987631" y="27180548"/>
            <a:ext cx="23081840" cy="914452"/>
            <a:chOff x="987631" y="27180548"/>
            <a:chExt cx="23081840" cy="914452"/>
          </a:xfrm>
        </p:grpSpPr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631" y="27180548"/>
              <a:ext cx="23081840" cy="910954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1327255" y="27233226"/>
              <a:ext cx="4419800" cy="86177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5000" dirty="0">
                  <a:solidFill>
                    <a:schemeClr val="bg1"/>
                  </a:solidFill>
                  <a:latin typeface="SUITE Variable ExtraBold" pitchFamily="2" charset="-127"/>
                  <a:ea typeface="SUITE Variable ExtraBold" pitchFamily="2" charset="-127"/>
                </a:rPr>
                <a:t>주요 기능 및 특징</a:t>
              </a: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987631" y="35833806"/>
            <a:ext cx="23081840" cy="910954"/>
            <a:chOff x="987631" y="35833806"/>
            <a:chExt cx="23081840" cy="910954"/>
          </a:xfrm>
        </p:grpSpPr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631" y="35833806"/>
              <a:ext cx="23081840" cy="910954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1327255" y="35882986"/>
              <a:ext cx="4666662" cy="86177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5000" dirty="0">
                  <a:solidFill>
                    <a:schemeClr val="bg1"/>
                  </a:solidFill>
                  <a:latin typeface="SUITE Variable ExtraBold" pitchFamily="2" charset="-127"/>
                  <a:ea typeface="SUITE Variable ExtraBold" pitchFamily="2" charset="-127"/>
                </a:rPr>
                <a:t>시스템 다이어그램</a:t>
              </a: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987631" y="9887802"/>
            <a:ext cx="23081840" cy="914452"/>
            <a:chOff x="987631" y="9887802"/>
            <a:chExt cx="23081840" cy="914452"/>
          </a:xfrm>
        </p:grpSpPr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631" y="9887802"/>
              <a:ext cx="23081840" cy="910954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327255" y="9940480"/>
              <a:ext cx="3244799" cy="86177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5000" dirty="0">
                  <a:solidFill>
                    <a:schemeClr val="bg1"/>
                  </a:solidFill>
                  <a:latin typeface="SUITE Variable ExtraBold" pitchFamily="2" charset="-127"/>
                  <a:ea typeface="SUITE Variable ExtraBold" pitchFamily="2" charset="-127"/>
                </a:rPr>
                <a:t>목적 및 배경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327255" y="899030"/>
            <a:ext cx="7925568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0" dirty="0" err="1">
                <a:solidFill>
                  <a:schemeClr val="bg1"/>
                </a:solidFill>
                <a:effectLst>
                  <a:outerShdw blurRad="88900" dist="38100" dir="2700000" algn="tl" rotWithShape="0">
                    <a:srgbClr val="004896"/>
                  </a:outerShdw>
                </a:effectLst>
                <a:latin typeface="SUITE Variable Heavy" pitchFamily="2" charset="-127"/>
                <a:ea typeface="SUITE Variable Heavy" pitchFamily="2" charset="-127"/>
              </a:rPr>
              <a:t>EnergyNow</a:t>
            </a:r>
            <a:endParaRPr lang="ko-KR" altLang="en-US" sz="10500" dirty="0">
              <a:solidFill>
                <a:schemeClr val="bg1"/>
              </a:solidFill>
              <a:effectLst>
                <a:outerShdw blurRad="88900" dist="38100" dir="2700000" algn="tl" rotWithShape="0">
                  <a:srgbClr val="004896"/>
                </a:outerShdw>
              </a:effectLst>
              <a:latin typeface="SUITE Variable Heavy" pitchFamily="2" charset="-127"/>
              <a:ea typeface="SUITE Variable Heavy" pitchFamily="2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727417" y="5124450"/>
            <a:ext cx="2176711" cy="704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4400" dirty="0" err="1">
                <a:solidFill>
                  <a:srgbClr val="00AC80"/>
                </a:solidFill>
                <a:latin typeface="SUITE Variable ExtraBold" pitchFamily="2" charset="-127"/>
                <a:ea typeface="SUITE Variable ExtraBold" pitchFamily="2" charset="-127"/>
              </a:rPr>
              <a:t>팀명</a:t>
            </a:r>
            <a:endParaRPr lang="ko-KR" altLang="en-US" sz="4400" dirty="0">
              <a:solidFill>
                <a:srgbClr val="00AC80"/>
              </a:solidFill>
              <a:latin typeface="SUITE Variable ExtraBold" pitchFamily="2" charset="-127"/>
              <a:ea typeface="SUITE Variable Extra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427694" y="5116076"/>
            <a:ext cx="164660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4400" dirty="0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잡도리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727417" y="5981700"/>
            <a:ext cx="2176711" cy="723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4400" dirty="0">
                <a:solidFill>
                  <a:srgbClr val="00AC80"/>
                </a:solidFill>
                <a:latin typeface="SUITE Variable ExtraBold" pitchFamily="2" charset="-127"/>
                <a:ea typeface="SUITE Variable ExtraBold" pitchFamily="2" charset="-127"/>
              </a:rPr>
              <a:t>팀원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27694" y="5993730"/>
            <a:ext cx="869340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4400" dirty="0" err="1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김환희</a:t>
            </a:r>
            <a:r>
              <a:rPr lang="en-US" altLang="ko-KR" sz="4400" dirty="0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, </a:t>
            </a:r>
            <a:r>
              <a:rPr lang="ko-KR" altLang="en-US" sz="4400" dirty="0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이한별</a:t>
            </a:r>
            <a:r>
              <a:rPr lang="en-US" altLang="ko-KR" sz="4400" dirty="0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, </a:t>
            </a:r>
            <a:r>
              <a:rPr lang="ko-KR" altLang="en-US" sz="4400" dirty="0" err="1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임강혁</a:t>
            </a:r>
            <a:r>
              <a:rPr lang="en-US" altLang="ko-KR" sz="4400" dirty="0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, </a:t>
            </a:r>
            <a:r>
              <a:rPr lang="ko-KR" altLang="en-US" sz="4400" dirty="0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장재훈</a:t>
            </a:r>
            <a:r>
              <a:rPr lang="en-US" altLang="ko-KR" sz="4400" dirty="0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, </a:t>
            </a:r>
            <a:r>
              <a:rPr lang="ko-KR" altLang="en-US" sz="4400" dirty="0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최승표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1219201" y="6858000"/>
            <a:ext cx="3067050" cy="723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4400" kern="100" spc="-300" dirty="0">
                <a:solidFill>
                  <a:srgbClr val="00AC80"/>
                </a:solidFill>
                <a:latin typeface="SUITE Variable ExtraBold" pitchFamily="2" charset="-127"/>
                <a:ea typeface="SUITE Variable ExtraBold" pitchFamily="2" charset="-127"/>
              </a:rPr>
              <a:t>지도선생님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27694" y="6871384"/>
            <a:ext cx="1550424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000 </a:t>
            </a:r>
            <a:endParaRPr lang="ko-KR" altLang="en-US" sz="4400" dirty="0">
              <a:solidFill>
                <a:schemeClr val="bg1"/>
              </a:solidFill>
              <a:latin typeface="SUITE Variable ExtraBold" pitchFamily="2" charset="-127"/>
              <a:ea typeface="SUITE Variable ExtraBold" pitchFamily="2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727417" y="7676559"/>
            <a:ext cx="2176711" cy="8197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4400" dirty="0">
                <a:solidFill>
                  <a:srgbClr val="00AC80"/>
                </a:solidFill>
                <a:latin typeface="SUITE Variable ExtraBold" pitchFamily="2" charset="-127"/>
                <a:ea typeface="SUITE Variable ExtraBold" pitchFamily="2" charset="-127"/>
              </a:rPr>
              <a:t>학교명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27694" y="7749039"/>
            <a:ext cx="5057795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4400" dirty="0">
                <a:solidFill>
                  <a:schemeClr val="bg1"/>
                </a:solidFill>
                <a:latin typeface="SUITE Variable ExtraBold" pitchFamily="2" charset="-127"/>
                <a:ea typeface="SUITE Variable ExtraBold" pitchFamily="2" charset="-127"/>
              </a:rPr>
              <a:t>수도전기공업고등학교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987631" y="18522124"/>
            <a:ext cx="23081840" cy="929890"/>
            <a:chOff x="987631" y="18522124"/>
            <a:chExt cx="23081840" cy="929890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631" y="18522124"/>
              <a:ext cx="23081840" cy="910954"/>
            </a:xfrm>
            <a:prstGeom prst="rect">
              <a:avLst/>
            </a:prstGeom>
          </p:spPr>
        </p:pic>
        <p:sp>
          <p:nvSpPr>
            <p:cNvPr id="67" name="TextBox 66"/>
            <p:cNvSpPr txBox="1"/>
            <p:nvPr/>
          </p:nvSpPr>
          <p:spPr>
            <a:xfrm>
              <a:off x="1327255" y="18590240"/>
              <a:ext cx="3502882" cy="86177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5000" dirty="0">
                  <a:solidFill>
                    <a:schemeClr val="bg1"/>
                  </a:solidFill>
                  <a:latin typeface="SUITE Variable ExtraBold" pitchFamily="2" charset="-127"/>
                  <a:ea typeface="SUITE Variable ExtraBold" pitchFamily="2" charset="-127"/>
                </a:rPr>
                <a:t>시스템구성도</a:t>
              </a:r>
            </a:p>
          </p:txBody>
        </p:sp>
      </p:grpSp>
      <p:pic>
        <p:nvPicPr>
          <p:cNvPr id="11" name="그림 10" descr="도표, 텍스트, 스크린샷, 라인이(가) 표시된 사진">
            <a:extLst>
              <a:ext uri="{FF2B5EF4-FFF2-40B4-BE49-F238E27FC236}">
                <a16:creationId xmlns:a16="http://schemas.microsoft.com/office/drawing/2014/main" id="{6E92F880-E02E-5AD8-A3CA-132040BA10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31" y="19482258"/>
            <a:ext cx="21758620" cy="74398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7D8326-922A-DD2C-7BCC-62732B7FEDC7}"/>
              </a:ext>
            </a:extLst>
          </p:cNvPr>
          <p:cNvSpPr txBox="1"/>
          <p:nvPr/>
        </p:nvSpPr>
        <p:spPr>
          <a:xfrm>
            <a:off x="987631" y="11084576"/>
            <a:ext cx="23081840" cy="303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SUITE Variable Heavy" pitchFamily="2" charset="-127"/>
                <a:ea typeface="SUITE Variable Heavy" pitchFamily="2" charset="-127"/>
              </a:rPr>
              <a:t>목적</a:t>
            </a:r>
            <a:endParaRPr lang="en-US" altLang="ko-KR" sz="7200" dirty="0">
              <a:latin typeface="SUITE Variable Heavy" pitchFamily="2" charset="-127"/>
              <a:ea typeface="SUITE Variable Heavy" pitchFamily="2" charset="-127"/>
            </a:endParaRPr>
          </a:p>
          <a:p>
            <a:r>
              <a:rPr lang="ko-KR" altLang="en-US" sz="6000" dirty="0">
                <a:latin typeface="SUITE Variable Medium" pitchFamily="2" charset="-127"/>
                <a:ea typeface="SUITE Variable Medium" pitchFamily="2" charset="-127"/>
              </a:rPr>
              <a:t>저희 웹사이트의 목적은 대한민국 국민이 우리나라의 전력생산 구조와 발전량 변동을 직관적으로 이해하도록 돕고</a:t>
            </a:r>
            <a:r>
              <a:rPr lang="en-US" altLang="ko-KR" sz="6000" dirty="0">
                <a:latin typeface="SUITE Variable Medium" pitchFamily="2" charset="-127"/>
                <a:ea typeface="SUITE Variable Medium" pitchFamily="2" charset="-127"/>
              </a:rPr>
              <a:t>, </a:t>
            </a:r>
            <a:r>
              <a:rPr lang="ko-KR" altLang="en-US" sz="6000" dirty="0">
                <a:latin typeface="SUITE Variable Medium" pitchFamily="2" charset="-127"/>
                <a:ea typeface="SUITE Variable Medium" pitchFamily="2" charset="-127"/>
              </a:rPr>
              <a:t>이를 다양한 분야로 확장시키는 것입니다</a:t>
            </a:r>
            <a:r>
              <a:rPr lang="en-US" altLang="ko-KR" sz="6000" dirty="0">
                <a:latin typeface="SUITE Variable Medium" pitchFamily="2" charset="-127"/>
                <a:ea typeface="SUITE Variable Medium" pitchFamily="2" charset="-127"/>
              </a:rPr>
              <a:t>.</a:t>
            </a:r>
            <a:endParaRPr lang="ko-KR" altLang="en-US" sz="6000" dirty="0">
              <a:latin typeface="SUITE Variable Medium" pitchFamily="2" charset="-127"/>
              <a:ea typeface="SUITE Variable Medium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A72FB-5A57-0E91-E6D0-19DAA0CF2243}"/>
              </a:ext>
            </a:extLst>
          </p:cNvPr>
          <p:cNvSpPr txBox="1"/>
          <p:nvPr/>
        </p:nvSpPr>
        <p:spPr>
          <a:xfrm>
            <a:off x="987630" y="14122780"/>
            <a:ext cx="22885089" cy="396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SUITE Variable Heavy" pitchFamily="2" charset="-127"/>
                <a:ea typeface="SUITE Variable Heavy" pitchFamily="2" charset="-127"/>
              </a:rPr>
              <a:t>배경</a:t>
            </a:r>
            <a:endParaRPr lang="en-US" altLang="ko-KR" dirty="0">
              <a:latin typeface="SUITE Variable Heavy" pitchFamily="2" charset="-127"/>
              <a:ea typeface="SUITE Variable Heavy" pitchFamily="2" charset="-127"/>
            </a:endParaRPr>
          </a:p>
          <a:p>
            <a:r>
              <a:rPr lang="ko-KR" altLang="en-US" sz="6000" dirty="0">
                <a:latin typeface="SUITE Variable Medium" pitchFamily="2" charset="-127"/>
                <a:ea typeface="SUITE Variable Medium" pitchFamily="2" charset="-127"/>
              </a:rPr>
              <a:t>아이디어를 구상할 때</a:t>
            </a:r>
            <a:r>
              <a:rPr lang="en-US" altLang="ko-KR" sz="6000" dirty="0">
                <a:latin typeface="SUITE Variable Medium" pitchFamily="2" charset="-127"/>
                <a:ea typeface="SUITE Variable Medium" pitchFamily="2" charset="-127"/>
              </a:rPr>
              <a:t>, </a:t>
            </a:r>
            <a:r>
              <a:rPr lang="ko-KR" altLang="en-US" sz="6000" dirty="0">
                <a:latin typeface="SUITE Variable Medium" pitchFamily="2" charset="-127"/>
                <a:ea typeface="SUITE Variable Medium" pitchFamily="2" charset="-127"/>
              </a:rPr>
              <a:t>국민들이 실시간으로 발전량을 볼 수 있는 사이트가 없다는 것을 알게 되었습니다</a:t>
            </a:r>
            <a:r>
              <a:rPr lang="en-US" altLang="ko-KR" sz="6000" dirty="0">
                <a:latin typeface="SUITE Variable Medium" pitchFamily="2" charset="-127"/>
                <a:ea typeface="SUITE Variable Medium" pitchFamily="2" charset="-127"/>
              </a:rPr>
              <a:t>. </a:t>
            </a:r>
            <a:r>
              <a:rPr lang="ko-KR" altLang="en-US" sz="6000" dirty="0">
                <a:latin typeface="SUITE Variable Medium" pitchFamily="2" charset="-127"/>
                <a:ea typeface="SUITE Variable Medium" pitchFamily="2" charset="-127"/>
              </a:rPr>
              <a:t>사람들이 에너지 발전량의 흥미를 가지면 우리나라의 에너지 산업의 기대치를 올릴 수 있어</a:t>
            </a:r>
            <a:r>
              <a:rPr lang="en-US" altLang="ko-KR" sz="6000" dirty="0">
                <a:latin typeface="SUITE Variable Medium" pitchFamily="2" charset="-127"/>
                <a:ea typeface="SUITE Variable Medium" pitchFamily="2" charset="-127"/>
              </a:rPr>
              <a:t>, </a:t>
            </a:r>
            <a:r>
              <a:rPr lang="ko-KR" altLang="en-US" sz="6000" dirty="0">
                <a:latin typeface="SUITE Variable Medium" pitchFamily="2" charset="-127"/>
                <a:ea typeface="SUITE Variable Medium" pitchFamily="2" charset="-127"/>
              </a:rPr>
              <a:t>이 웹 사이트를 개발하게 되었습니다</a:t>
            </a:r>
            <a:r>
              <a:rPr lang="en-US" altLang="ko-KR" sz="6000" dirty="0">
                <a:latin typeface="SUITE Variable Medium" pitchFamily="2" charset="-127"/>
                <a:ea typeface="SUITE Variable Medium" pitchFamily="2" charset="-127"/>
              </a:rPr>
              <a:t>. </a:t>
            </a:r>
            <a:endParaRPr lang="ko-KR" altLang="en-US" sz="6000" dirty="0">
              <a:latin typeface="SUITE Variable Medium" pitchFamily="2" charset="-127"/>
              <a:ea typeface="SUITE Variable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228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1043</TotalTime>
  <Words>84</Words>
  <Application>Microsoft Office PowerPoint</Application>
  <PresentationFormat>사용자 지정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SUITE Variable ExtraBold</vt:lpstr>
      <vt:lpstr>SUITE Variable Heavy</vt:lpstr>
      <vt:lpstr>SUITE Variable Medium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[1학년 9반]최승표</cp:lastModifiedBy>
  <cp:revision>21</cp:revision>
  <dcterms:created xsi:type="dcterms:W3CDTF">2023-10-25T04:17:20Z</dcterms:created>
  <dcterms:modified xsi:type="dcterms:W3CDTF">2025-11-02T08:23:16Z</dcterms:modified>
</cp:coreProperties>
</file>