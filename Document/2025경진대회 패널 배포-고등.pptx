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5199975" cy="50399950"/>
  <p:notesSz cx="6858000" cy="9144000"/>
  <p:defaultTextStyle>
    <a:defPPr>
      <a:defRPr lang="ko-KR"/>
    </a:defPPr>
    <a:lvl1pPr marL="0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1pPr>
    <a:lvl2pPr marL="1814398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2pPr>
    <a:lvl3pPr marL="362879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3pPr>
    <a:lvl4pPr marL="5443195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4pPr>
    <a:lvl5pPr marL="7257593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5pPr>
    <a:lvl6pPr marL="9071991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6pPr>
    <a:lvl7pPr marL="10886389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7pPr>
    <a:lvl8pPr marL="12700787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8pPr>
    <a:lvl9pPr marL="1451518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74" userDrawn="1">
          <p15:clr>
            <a:srgbClr val="A4A3A4"/>
          </p15:clr>
        </p15:guide>
        <p15:guide id="2" pos="78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C80"/>
    <a:srgbClr val="004896"/>
    <a:srgbClr val="007D34"/>
    <a:srgbClr val="2EAF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19" autoAdjust="0"/>
    <p:restoredTop sz="94660"/>
  </p:normalViewPr>
  <p:slideViewPr>
    <p:cSldViewPr snapToGrid="0">
      <p:cViewPr>
        <p:scale>
          <a:sx n="33" d="100"/>
          <a:sy n="33" d="100"/>
        </p:scale>
        <p:origin x="1392" y="-3322"/>
      </p:cViewPr>
      <p:guideLst>
        <p:guide orient="horz" pos="15874"/>
        <p:guide pos="7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8248329"/>
            <a:ext cx="21419979" cy="17546649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26471644"/>
            <a:ext cx="18899981" cy="12168318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ko-KR" altLang="en-US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50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0175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211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87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8109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062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512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"/>
            <a:ext cx="25199975" cy="5039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15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306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34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4217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41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F1DC50-C5CA-44B4-A558-6C26647E5902}" type="datetimeFigureOut">
              <a:rPr lang="ko-KR" altLang="en-US" smtClean="0"/>
              <a:t>2025-11-08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2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72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2519995" rtl="0" eaLnBrk="1" latinLnBrk="1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1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그림 5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7739953"/>
            <a:ext cx="2941547" cy="729596"/>
          </a:xfrm>
          <a:prstGeom prst="rect">
            <a:avLst/>
          </a:prstGeom>
        </p:spPr>
      </p:pic>
      <p:pic>
        <p:nvPicPr>
          <p:cNvPr id="58" name="그림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6869685"/>
            <a:ext cx="2941547" cy="729596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973272"/>
            <a:ext cx="2941547" cy="72959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103300"/>
            <a:ext cx="2941547" cy="729596"/>
          </a:xfrm>
          <a:prstGeom prst="rect">
            <a:avLst/>
          </a:prstGeom>
        </p:spPr>
      </p:pic>
      <p:grpSp>
        <p:nvGrpSpPr>
          <p:cNvPr id="13" name="그룹 12"/>
          <p:cNvGrpSpPr/>
          <p:nvPr/>
        </p:nvGrpSpPr>
        <p:grpSpPr>
          <a:xfrm>
            <a:off x="987631" y="27180548"/>
            <a:ext cx="23081840" cy="914452"/>
            <a:chOff x="987631" y="27180548"/>
            <a:chExt cx="23081840" cy="914452"/>
          </a:xfrm>
        </p:grpSpPr>
        <p:pic>
          <p:nvPicPr>
            <p:cNvPr id="44" name="그림 4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27180548"/>
              <a:ext cx="23081840" cy="910954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1327255" y="27233226"/>
              <a:ext cx="4419800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주요 기능 및 특징</a:t>
              </a:r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987631" y="35833806"/>
            <a:ext cx="23081840" cy="910954"/>
            <a:chOff x="987631" y="35833806"/>
            <a:chExt cx="23081840" cy="910954"/>
          </a:xfrm>
        </p:grpSpPr>
        <p:pic>
          <p:nvPicPr>
            <p:cNvPr id="45" name="그림 4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35833806"/>
              <a:ext cx="23081840" cy="910954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327255" y="35882986"/>
              <a:ext cx="466666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 다이어그램</a:t>
              </a:r>
            </a:p>
          </p:txBody>
        </p:sp>
      </p:grpSp>
      <p:grpSp>
        <p:nvGrpSpPr>
          <p:cNvPr id="15" name="그룹 14"/>
          <p:cNvGrpSpPr/>
          <p:nvPr/>
        </p:nvGrpSpPr>
        <p:grpSpPr>
          <a:xfrm>
            <a:off x="987631" y="9887802"/>
            <a:ext cx="23081840" cy="914452"/>
            <a:chOff x="987631" y="9887802"/>
            <a:chExt cx="23081840" cy="914452"/>
          </a:xfrm>
        </p:grpSpPr>
        <p:pic>
          <p:nvPicPr>
            <p:cNvPr id="54" name="그림 5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9887802"/>
              <a:ext cx="23081840" cy="910954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327255" y="9940480"/>
              <a:ext cx="3244799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목적 및 배경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1327255" y="1291081"/>
            <a:ext cx="16814218" cy="27853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0" dirty="0" err="1">
                <a:solidFill>
                  <a:schemeClr val="bg1"/>
                </a:solidFill>
                <a:effectLst>
                  <a:outerShdw blurRad="88900" dist="38100" dir="2700000" algn="tl" rotWithShape="0">
                    <a:srgbClr val="004896"/>
                  </a:outerShdw>
                </a:effectLst>
                <a:latin typeface="SUITE Variable Heavy" pitchFamily="2" charset="-127"/>
                <a:ea typeface="SUITE Variable Heavy" pitchFamily="2" charset="-127"/>
              </a:rPr>
              <a:t>EnergyNow</a:t>
            </a:r>
            <a:endParaRPr lang="en-US" altLang="ko-KR" sz="120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endParaRPr lang="en-US" altLang="ko-KR" sz="15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실시간 발전 데이터를 </a:t>
            </a:r>
            <a:r>
              <a:rPr lang="ko-KR" altLang="en-US" sz="4000" dirty="0" err="1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시각화하여</a:t>
            </a:r>
            <a:r>
              <a:rPr lang="ko-KR" altLang="en-US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 에너지 이해와 활용을 돕는 교육</a:t>
            </a:r>
            <a:r>
              <a:rPr lang="en-US" altLang="ko-KR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·</a:t>
            </a:r>
            <a:r>
              <a:rPr lang="ko-KR" altLang="en-US" sz="4000" dirty="0">
                <a:solidFill>
                  <a:schemeClr val="bg1"/>
                </a:solidFill>
                <a:latin typeface="SUITE Variable Light" pitchFamily="2" charset="-127"/>
                <a:ea typeface="SUITE Variable Light" pitchFamily="2" charset="-127"/>
              </a:rPr>
              <a:t>정보 플랫폼</a:t>
            </a:r>
            <a:endParaRPr lang="ko-KR" altLang="en-US" sz="40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727417" y="5124450"/>
            <a:ext cx="2176711" cy="7048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 err="1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팀명</a:t>
            </a:r>
            <a:endParaRPr lang="ko-KR" altLang="en-US" sz="4400" dirty="0">
              <a:solidFill>
                <a:srgbClr val="00AC80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427694" y="5116076"/>
            <a:ext cx="164660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잡도리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1727417" y="5981700"/>
            <a:ext cx="2176711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7694" y="5993730"/>
            <a:ext cx="869340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 err="1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김환희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이한별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 err="1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임강혁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장재훈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, 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최승표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1219201" y="6858000"/>
            <a:ext cx="3067050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kern="100" spc="-3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지도선생님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27694" y="6871384"/>
            <a:ext cx="1776448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박태영</a:t>
            </a:r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 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1727417" y="7676559"/>
            <a:ext cx="2176711" cy="8197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학교명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27694" y="7749039"/>
            <a:ext cx="505779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수도전기공업고등학교</a:t>
            </a:r>
          </a:p>
        </p:txBody>
      </p:sp>
      <p:grpSp>
        <p:nvGrpSpPr>
          <p:cNvPr id="17" name="그룹 16"/>
          <p:cNvGrpSpPr/>
          <p:nvPr/>
        </p:nvGrpSpPr>
        <p:grpSpPr>
          <a:xfrm>
            <a:off x="987631" y="18522124"/>
            <a:ext cx="23081840" cy="929890"/>
            <a:chOff x="987631" y="18522124"/>
            <a:chExt cx="23081840" cy="929890"/>
          </a:xfrm>
        </p:grpSpPr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18522124"/>
              <a:ext cx="23081840" cy="910954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1327255" y="18590240"/>
              <a:ext cx="350288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시스템구성도</a:t>
              </a:r>
            </a:p>
          </p:txBody>
        </p:sp>
      </p:grpSp>
      <p:pic>
        <p:nvPicPr>
          <p:cNvPr id="11" name="그림 10" descr="도표, 텍스트, 스크린샷, 라인이(가) 표시된 사진">
            <a:extLst>
              <a:ext uri="{FF2B5EF4-FFF2-40B4-BE49-F238E27FC236}">
                <a16:creationId xmlns:a16="http://schemas.microsoft.com/office/drawing/2014/main" id="{6E92F880-E02E-5AD8-A3CA-132040BA10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31" y="19482258"/>
            <a:ext cx="21758620" cy="74398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7D8326-922A-DD2C-7BCC-62732B7FEDC7}"/>
              </a:ext>
            </a:extLst>
          </p:cNvPr>
          <p:cNvSpPr txBox="1"/>
          <p:nvPr/>
        </p:nvSpPr>
        <p:spPr>
          <a:xfrm>
            <a:off x="987631" y="11084576"/>
            <a:ext cx="23081840" cy="288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SUITE Variable Heavy" pitchFamily="2" charset="-127"/>
                <a:ea typeface="SUITE Variable Heavy" pitchFamily="2" charset="-127"/>
              </a:rPr>
              <a:t>목적</a:t>
            </a:r>
            <a:endParaRPr lang="en-US" altLang="ko-KR" sz="7200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저희 웹사이트의 목적은 대한민국 국민이 우리나라의 전력생산 구조와 발전량 변동을 직관적으로 이해하도록 돕고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이를 다양한 분야로 확장시키는 것입니다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.</a:t>
            </a:r>
            <a:endParaRPr lang="ko-KR" altLang="en-US" sz="5500" dirty="0">
              <a:latin typeface="SUITE Variable Medium" pitchFamily="2" charset="-127"/>
              <a:ea typeface="SUITE Variable Medium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A72FB-5A57-0E91-E6D0-19DAA0CF2243}"/>
              </a:ext>
            </a:extLst>
          </p:cNvPr>
          <p:cNvSpPr txBox="1"/>
          <p:nvPr/>
        </p:nvSpPr>
        <p:spPr>
          <a:xfrm>
            <a:off x="987630" y="14122780"/>
            <a:ext cx="22885089" cy="380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SUITE Variable Heavy" pitchFamily="2" charset="-127"/>
                <a:ea typeface="SUITE Variable Heavy" pitchFamily="2" charset="-127"/>
              </a:rPr>
              <a:t>배경</a:t>
            </a:r>
            <a:endParaRPr lang="en-US" altLang="ko-KR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아이디어를 구상할 때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국민들이 실시간으로 발전량을 볼 수 있는 사이트가 없다는 것을 알게 되었습니다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.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사람들이 에너지 발전량의 흥미를 가지면 우리나라의 에너지 산업의 기대치를 올릴 수 있어</a:t>
            </a:r>
            <a:r>
              <a:rPr lang="en-US" altLang="ko-KR" sz="5500" dirty="0">
                <a:latin typeface="SUITE Variable Medium" pitchFamily="2" charset="-127"/>
                <a:ea typeface="SUITE Variable Medium" pitchFamily="2" charset="-127"/>
              </a:rPr>
              <a:t>, </a:t>
            </a:r>
            <a:r>
              <a:rPr lang="ko-KR" altLang="en-US" sz="5500" dirty="0">
                <a:latin typeface="SUITE Variable Medium" pitchFamily="2" charset="-127"/>
                <a:ea typeface="SUITE Variable Medium" pitchFamily="2" charset="-127"/>
              </a:rPr>
              <a:t>이 웹 사이트를 개발하게 되었습니다</a:t>
            </a:r>
            <a:r>
              <a:rPr lang="en-US" altLang="ko-KR" sz="6000" dirty="0">
                <a:latin typeface="SUITE Variable Medium" pitchFamily="2" charset="-127"/>
                <a:ea typeface="SUITE Variable Medium" pitchFamily="2" charset="-127"/>
              </a:rPr>
              <a:t>. </a:t>
            </a:r>
            <a:endParaRPr lang="ko-KR" altLang="en-US" sz="6000" dirty="0">
              <a:latin typeface="SUITE Variable Medium" pitchFamily="2" charset="-127"/>
              <a:ea typeface="SUITE Variable Medium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6399B5-EBF2-13D1-AAF4-88B42BE97E1C}"/>
              </a:ext>
            </a:extLst>
          </p:cNvPr>
          <p:cNvSpPr txBox="1"/>
          <p:nvPr/>
        </p:nvSpPr>
        <p:spPr>
          <a:xfrm>
            <a:off x="1015623" y="36992170"/>
            <a:ext cx="21538268" cy="45550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0" dirty="0">
                <a:latin typeface="SUITE Variable Heavy" pitchFamily="2" charset="-127"/>
                <a:ea typeface="SUITE Variable Heavy" pitchFamily="2" charset="-127"/>
              </a:rPr>
              <a:t>기대효과</a:t>
            </a:r>
            <a:endParaRPr lang="en-US" altLang="ko-KR" sz="7000" dirty="0"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5500" dirty="0"/>
              <a:t>이 프로젝트는 실시간 발전 데이터를 시각적으로 보여줌으로써 </a:t>
            </a:r>
            <a:endParaRPr lang="en-US" altLang="ko-KR" sz="5500" dirty="0"/>
          </a:p>
          <a:p>
            <a:r>
              <a:rPr lang="ko-KR" altLang="en-US" sz="5500" dirty="0"/>
              <a:t>학생들의 체험형 에너지 학습 기회를 제공하고</a:t>
            </a:r>
            <a:r>
              <a:rPr lang="en-US" altLang="ko-KR" sz="5500" dirty="0"/>
              <a:t>,</a:t>
            </a:r>
            <a:r>
              <a:rPr lang="ko-KR" altLang="en-US" sz="5500" dirty="0"/>
              <a:t> 시민들의 환경 의식을 </a:t>
            </a:r>
            <a:endParaRPr lang="en-US" altLang="ko-KR" sz="5500" dirty="0"/>
          </a:p>
          <a:p>
            <a:r>
              <a:rPr lang="ko-KR" altLang="en-US" sz="5500" dirty="0"/>
              <a:t>높입니다</a:t>
            </a:r>
            <a:r>
              <a:rPr lang="en-US" altLang="ko-KR" sz="5500" dirty="0"/>
              <a:t>. </a:t>
            </a:r>
            <a:r>
              <a:rPr lang="ko-KR" altLang="en-US" sz="5500" dirty="0"/>
              <a:t>또한 데이터를 활용해 에너지 산업의 효율적 의사결정을 </a:t>
            </a:r>
            <a:endParaRPr lang="en-US" altLang="ko-KR" sz="5500" dirty="0"/>
          </a:p>
          <a:p>
            <a:r>
              <a:rPr lang="ko-KR" altLang="en-US" sz="5500" dirty="0"/>
              <a:t>지원합니다</a:t>
            </a:r>
            <a:r>
              <a:rPr lang="en-US" altLang="ko-KR" sz="5500" dirty="0"/>
              <a:t>.</a:t>
            </a:r>
            <a:endParaRPr lang="ko-KR" altLang="en-US" sz="5500" dirty="0">
              <a:latin typeface="SUITE Variable Light" pitchFamily="2" charset="-127"/>
              <a:ea typeface="SUITE Variable Light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FB69A66-816F-C6C6-6C43-3FD951668F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4040" y="28732632"/>
            <a:ext cx="8626588" cy="485436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9E856F0C-1872-7271-CE4E-CA64B2D608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7648" y="28717391"/>
            <a:ext cx="5273497" cy="488484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1EF4D1C-31D4-7EFD-4A11-3F33EE8775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85637" y="28770011"/>
            <a:ext cx="6926690" cy="477960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C2D78CD-0BC2-C243-0A71-55C1D6D57D14}"/>
              </a:ext>
            </a:extLst>
          </p:cNvPr>
          <p:cNvSpPr txBox="1"/>
          <p:nvPr/>
        </p:nvSpPr>
        <p:spPr>
          <a:xfrm>
            <a:off x="1206156" y="33982859"/>
            <a:ext cx="563647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발전소 위치 표시 및 발전량 표시</a:t>
            </a:r>
            <a:endParaRPr lang="en-US" altLang="ko-KR" sz="3500" dirty="0">
              <a:latin typeface="SUITE Variable Light" pitchFamily="2" charset="-127"/>
              <a:ea typeface="SUITE Variable Light" pitchFamily="2" charset="-127"/>
            </a:endParaRPr>
          </a:p>
          <a:p>
            <a:pPr algn="ctr"/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(</a:t>
            </a:r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그래프로 오늘 발전량 표시</a:t>
            </a: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)</a:t>
            </a:r>
            <a:endParaRPr lang="ko-KR" altLang="en-US" sz="3500" dirty="0"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EC9C5-01EE-4608-F19A-5D05F5B020BE}"/>
              </a:ext>
            </a:extLst>
          </p:cNvPr>
          <p:cNvSpPr txBox="1"/>
          <p:nvPr/>
        </p:nvSpPr>
        <p:spPr>
          <a:xfrm>
            <a:off x="10402717" y="34252163"/>
            <a:ext cx="304923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발전량 예측</a:t>
            </a: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 </a:t>
            </a:r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게임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C0F630-D564-24F7-5D0B-62EEF1ACED82}"/>
              </a:ext>
            </a:extLst>
          </p:cNvPr>
          <p:cNvSpPr txBox="1"/>
          <p:nvPr/>
        </p:nvSpPr>
        <p:spPr>
          <a:xfrm>
            <a:off x="16870064" y="33982859"/>
            <a:ext cx="719940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전기 발전의 대한 더 다양한 콘텐츠 제공</a:t>
            </a:r>
            <a:b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</a:b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(</a:t>
            </a:r>
            <a:r>
              <a:rPr lang="ko-KR" altLang="en-US" sz="3500" dirty="0">
                <a:latin typeface="SUITE Variable Light" pitchFamily="2" charset="-127"/>
                <a:ea typeface="SUITE Variable Light" pitchFamily="2" charset="-127"/>
              </a:rPr>
              <a:t>태그 기능을 통해 사용자 맞춤 검색 가능</a:t>
            </a:r>
            <a:r>
              <a:rPr lang="en-US" altLang="ko-KR" sz="3500" dirty="0">
                <a:latin typeface="SUITE Variable Light" pitchFamily="2" charset="-127"/>
                <a:ea typeface="SUITE Variable Light" pitchFamily="2" charset="-127"/>
              </a:rPr>
              <a:t>)</a:t>
            </a:r>
            <a:endParaRPr lang="ko-KR" altLang="en-US" sz="3500" dirty="0"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6AB279-559B-B12A-EAC2-865D216A0989}"/>
              </a:ext>
            </a:extLst>
          </p:cNvPr>
          <p:cNvSpPr txBox="1"/>
          <p:nvPr/>
        </p:nvSpPr>
        <p:spPr>
          <a:xfrm rot="984251">
            <a:off x="8564190" y="25348998"/>
            <a:ext cx="133732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500" dirty="0">
                <a:latin typeface="SUITE Variable Light" pitchFamily="2" charset="-127"/>
                <a:ea typeface="SUITE Variable Light" pitchFamily="2" charset="-127"/>
              </a:rPr>
              <a:t>API </a:t>
            </a:r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호출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1525E0-6F2A-C88D-7E7F-29378A988045}"/>
              </a:ext>
            </a:extLst>
          </p:cNvPr>
          <p:cNvSpPr txBox="1"/>
          <p:nvPr/>
        </p:nvSpPr>
        <p:spPr>
          <a:xfrm rot="20278901">
            <a:off x="13940691" y="25167021"/>
            <a:ext cx="133732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500" dirty="0">
                <a:latin typeface="SUITE Variable Light" pitchFamily="2" charset="-127"/>
                <a:ea typeface="SUITE Variable Light" pitchFamily="2" charset="-127"/>
              </a:rPr>
              <a:t>API </a:t>
            </a:r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호출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8E7A7F-CDCC-0704-CABC-A40CAE6A423B}"/>
              </a:ext>
            </a:extLst>
          </p:cNvPr>
          <p:cNvSpPr txBox="1"/>
          <p:nvPr/>
        </p:nvSpPr>
        <p:spPr>
          <a:xfrm rot="984251">
            <a:off x="5882355" y="23971528"/>
            <a:ext cx="303191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실시간 발전량 제공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861B0F-786C-28A5-2960-CC6C6CF1D0D7}"/>
              </a:ext>
            </a:extLst>
          </p:cNvPr>
          <p:cNvSpPr txBox="1"/>
          <p:nvPr/>
        </p:nvSpPr>
        <p:spPr>
          <a:xfrm rot="984251">
            <a:off x="14950156" y="21092586"/>
            <a:ext cx="303191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발전량 정보 업데이트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0A3C1D0-2D2E-465E-03CA-3FE05D230622}"/>
              </a:ext>
            </a:extLst>
          </p:cNvPr>
          <p:cNvSpPr txBox="1"/>
          <p:nvPr/>
        </p:nvSpPr>
        <p:spPr>
          <a:xfrm rot="20278901">
            <a:off x="5578616" y="22579012"/>
            <a:ext cx="133732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정보 제공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9ADA00-189E-ADE6-DA62-7EF0D5FE2B3C}"/>
              </a:ext>
            </a:extLst>
          </p:cNvPr>
          <p:cNvSpPr txBox="1"/>
          <p:nvPr/>
        </p:nvSpPr>
        <p:spPr>
          <a:xfrm rot="20278901">
            <a:off x="7785194" y="20533965"/>
            <a:ext cx="16744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latin typeface="SUITE Variable Light" pitchFamily="2" charset="-127"/>
                <a:ea typeface="SUITE Variable Light" pitchFamily="2" charset="-127"/>
              </a:rPr>
              <a:t>사용자 요청</a:t>
            </a:r>
            <a:endParaRPr lang="ko-KR" altLang="en-US" sz="2500" dirty="0">
              <a:latin typeface="SUITE Variable Light" pitchFamily="2" charset="-127"/>
              <a:ea typeface="SUITE Variable Light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4BA56F-10A3-4CC7-97CE-D059140711DA}"/>
              </a:ext>
            </a:extLst>
          </p:cNvPr>
          <p:cNvSpPr txBox="1"/>
          <p:nvPr/>
        </p:nvSpPr>
        <p:spPr>
          <a:xfrm rot="20278901">
            <a:off x="14305302" y="23550370"/>
            <a:ext cx="362211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 dirty="0">
                <a:latin typeface="SUITE Variable Light" pitchFamily="2" charset="-127"/>
                <a:ea typeface="SUITE Variable Light" pitchFamily="2" charset="-127"/>
              </a:rPr>
              <a:t>발전소당 기간별 발전량 정보</a:t>
            </a:r>
          </a:p>
        </p:txBody>
      </p:sp>
    </p:spTree>
    <p:extLst>
      <p:ext uri="{BB962C8B-B14F-4D97-AF65-F5344CB8AC3E}">
        <p14:creationId xmlns:p14="http://schemas.microsoft.com/office/powerpoint/2010/main" val="1412286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1273</TotalTime>
  <Words>175</Words>
  <Application>Microsoft Office PowerPoint</Application>
  <PresentationFormat>사용자 지정</PresentationFormat>
  <Paragraphs>35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9" baseType="lpstr">
      <vt:lpstr>SUITE Variable ExtraBold</vt:lpstr>
      <vt:lpstr>SUITE Variable Heavy</vt:lpstr>
      <vt:lpstr>SUITE Variable Light</vt:lpstr>
      <vt:lpstr>SUITE Variable Medium</vt:lpstr>
      <vt:lpstr>Arial</vt:lpstr>
      <vt:lpstr>Calibri</vt:lpstr>
      <vt:lpstr>Calibri Light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[1학년 9반]최승표</cp:lastModifiedBy>
  <cp:revision>24</cp:revision>
  <dcterms:created xsi:type="dcterms:W3CDTF">2023-10-25T04:17:20Z</dcterms:created>
  <dcterms:modified xsi:type="dcterms:W3CDTF">2025-11-08T13:16:47Z</dcterms:modified>
</cp:coreProperties>
</file>